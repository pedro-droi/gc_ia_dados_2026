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0.jpeg" ContentType="image/jpeg"/>
  <Override PartName="/ppt/media/image9.png" ContentType="image/png"/>
  <Override PartName="/ppt/media/image18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2.jpeg" ContentType="image/jpeg"/>
  <Override PartName="/ppt/media/image25.jpeg" ContentType="image/jpeg"/>
  <Override PartName="/ppt/media/image24.png" ContentType="image/png"/>
  <Override PartName="/ppt/media/image23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5.png" ContentType="image/png"/>
  <Override PartName="/ppt/media/image14.png" ContentType="image/png"/>
  <Override PartName="/ppt/media/image3.jpeg" ContentType="image/jpeg"/>
  <Override PartName="/ppt/media/image15.png" ContentType="image/png"/>
  <Override PartName="/ppt/media/image6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E094CF-C542-4DEC-A547-22F33A63A2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DDD75F-9C96-4F81-9797-3877121922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6DB9F7-A657-471C-A9B1-FF2E45313E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D9BABA3-AC44-4CCC-AF2C-49A2B39CC8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54AC03B-26FC-4C23-9ECA-B4416070E1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F7BA0F5-F9C1-4307-B37A-C2517637C6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9B1624E-4FF9-40E8-95A6-D3EACBC517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B1E60BB-5181-413A-B30C-297A92311A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DE0DFD9-86DB-44B3-A5DE-BFC9B7D6BA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956C706-79DF-4365-8D1F-F8D75793CB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A29115C-A8C7-469F-90BE-362190333F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D9698C-B645-420B-BB1F-68EB2A469D6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523C16-AC98-4C4E-98CD-CE2477A4E06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EAE4D7-9A45-477D-8C27-1ADBFF5001B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4621A4-CC0D-4FAE-9236-ED93F994B7F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0124A1-58E2-4312-8153-87ACAD8E728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BAC08F-9BEE-4349-A03B-467AE6B7524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E44B99-AEA6-44A5-B30C-9BC0E1C0FD7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6E78AF-25E4-4797-B284-9BBAA2AA364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BDCBCF-892B-471A-B9B3-A8771817218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90C244-791B-4009-9F01-F97C9DFACDB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292FE3-6D89-4C3F-A3A1-0843E9D6A9E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eg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jpe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84;p13" descr="image.png"/>
          <p:cNvPicPr/>
          <p:nvPr/>
        </p:nvPicPr>
        <p:blipFill>
          <a:blip r:embed="rId1"/>
          <a:stretch/>
        </p:blipFill>
        <p:spPr>
          <a:xfrm>
            <a:off x="36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85;p13"/>
          <p:cNvSpPr/>
          <p:nvPr/>
        </p:nvSpPr>
        <p:spPr>
          <a:xfrm>
            <a:off x="835200" y="2449800"/>
            <a:ext cx="10520640" cy="27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facc15"/>
                </a:solidFill>
                <a:latin typeface="Orbitron"/>
                <a:ea typeface="Orbitron"/>
              </a:rPr>
              <a:t>Variáveis e tipos e conversões em Python:</a:t>
            </a:r>
            <a:br>
              <a:rPr sz="4500"/>
            </a:br>
            <a:br>
              <a:rPr sz="1800"/>
            </a:br>
            <a:r>
              <a:rPr b="1" lang="en-US" sz="4500" spc="-1" strike="noStrike">
                <a:solidFill>
                  <a:srgbClr val="facc15"/>
                </a:solidFill>
                <a:latin typeface="Orbitron"/>
                <a:ea typeface="Orbitron"/>
              </a:rPr>
              <a:t> Aprendendo com a Força</a:t>
            </a:r>
            <a:endParaRPr b="0" lang="pt-BR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Google Shape;86;p13"/>
          <p:cNvSpPr/>
          <p:nvPr/>
        </p:nvSpPr>
        <p:spPr>
          <a:xfrm>
            <a:off x="1085760" y="4011840"/>
            <a:ext cx="1001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60a5fa"/>
                </a:solidFill>
                <a:latin typeface="Roboto"/>
                <a:ea typeface="Roboto"/>
              </a:rPr>
              <a:t>Trilha - (“ IA e Dados - Aula 09 ”) -</a:t>
            </a:r>
            <a:endParaRPr b="0" lang="pt-BR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91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92;p14" descr="image.png"/>
          <p:cNvPicPr/>
          <p:nvPr/>
        </p:nvPicPr>
        <p:blipFill>
          <a:blip r:embed="rId2"/>
          <a:stretch/>
        </p:blipFill>
        <p:spPr>
          <a:xfrm>
            <a:off x="6334200" y="2314440"/>
            <a:ext cx="5266440" cy="361872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93;p14"/>
          <p:cNvSpPr/>
          <p:nvPr/>
        </p:nvSpPr>
        <p:spPr>
          <a:xfrm>
            <a:off x="923760" y="262908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Variável: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Uma caixinha com etiqueta para guardar dados (Ex: nome = "Luke").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Google Shape;94;p14"/>
          <p:cNvSpPr/>
          <p:nvPr/>
        </p:nvSpPr>
        <p:spPr>
          <a:xfrm>
            <a:off x="923760" y="3409920"/>
            <a:ext cx="493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Tipo str: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Texto, sempre entre "aspas" (Ex: "X-Wing").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Google Shape;95;p14"/>
          <p:cNvSpPr/>
          <p:nvPr/>
        </p:nvSpPr>
        <p:spPr>
          <a:xfrm>
            <a:off x="923760" y="3886200"/>
            <a:ext cx="493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Tipo int: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Número inteiro (Ex: 10).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Google Shape;96;p14"/>
          <p:cNvSpPr/>
          <p:nvPr/>
        </p:nvSpPr>
        <p:spPr>
          <a:xfrm>
            <a:off x="923760" y="4362480"/>
            <a:ext cx="493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Tipo float: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Número com ponto decimal (Ex: 4.5).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7;p14"/>
          <p:cNvSpPr/>
          <p:nvPr/>
        </p:nvSpPr>
        <p:spPr>
          <a:xfrm>
            <a:off x="923760" y="483876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Tipo bool: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Lógica pura, Verdadeiro ou Falso (Ex: True / False).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Google Shape;98;p14" descr=""/>
          <p:cNvPicPr/>
          <p:nvPr/>
        </p:nvPicPr>
        <p:blipFill>
          <a:blip r:embed="rId3"/>
          <a:srcRect l="0" t="15757" r="0" b="15746"/>
          <a:stretch/>
        </p:blipFill>
        <p:spPr>
          <a:xfrm>
            <a:off x="6353280" y="2333520"/>
            <a:ext cx="5228640" cy="3580560"/>
          </a:xfrm>
          <a:prstGeom prst="rect">
            <a:avLst/>
          </a:prstGeom>
          <a:ln w="0">
            <a:noFill/>
          </a:ln>
        </p:spPr>
      </p:pic>
      <p:pic>
        <p:nvPicPr>
          <p:cNvPr id="61" name="Google Shape;99;p14" descr="image.png"/>
          <p:cNvPicPr/>
          <p:nvPr/>
        </p:nvPicPr>
        <p:blipFill>
          <a:blip r:embed="rId4"/>
          <a:stretch/>
        </p:blipFill>
        <p:spPr>
          <a:xfrm>
            <a:off x="590400" y="2662200"/>
            <a:ext cx="170640" cy="19944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100;p14" descr="image.png"/>
          <p:cNvPicPr/>
          <p:nvPr/>
        </p:nvPicPr>
        <p:blipFill>
          <a:blip r:embed="rId5"/>
          <a:stretch/>
        </p:blipFill>
        <p:spPr>
          <a:xfrm>
            <a:off x="590400" y="3443400"/>
            <a:ext cx="170640" cy="19944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101;p14" descr="image.png"/>
          <p:cNvPicPr/>
          <p:nvPr/>
        </p:nvPicPr>
        <p:blipFill>
          <a:blip r:embed="rId6"/>
          <a:stretch/>
        </p:blipFill>
        <p:spPr>
          <a:xfrm>
            <a:off x="590400" y="3919680"/>
            <a:ext cx="161280" cy="199440"/>
          </a:xfrm>
          <a:prstGeom prst="rect">
            <a:avLst/>
          </a:prstGeom>
          <a:ln w="0">
            <a:noFill/>
          </a:ln>
        </p:spPr>
      </p:pic>
      <p:pic>
        <p:nvPicPr>
          <p:cNvPr id="64" name="Google Shape;102;p14" descr="image.png"/>
          <p:cNvPicPr/>
          <p:nvPr/>
        </p:nvPicPr>
        <p:blipFill>
          <a:blip r:embed="rId7"/>
          <a:stretch/>
        </p:blipFill>
        <p:spPr>
          <a:xfrm>
            <a:off x="590400" y="4395960"/>
            <a:ext cx="170640" cy="199440"/>
          </a:xfrm>
          <a:prstGeom prst="rect">
            <a:avLst/>
          </a:prstGeom>
          <a:ln w="0">
            <a:noFill/>
          </a:ln>
        </p:spPr>
      </p:pic>
      <p:pic>
        <p:nvPicPr>
          <p:cNvPr id="65" name="Google Shape;103;p14" descr="image.png"/>
          <p:cNvPicPr/>
          <p:nvPr/>
        </p:nvPicPr>
        <p:blipFill>
          <a:blip r:embed="rId8"/>
          <a:stretch/>
        </p:blipFill>
        <p:spPr>
          <a:xfrm>
            <a:off x="590400" y="4871880"/>
            <a:ext cx="218520" cy="19944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04;p14"/>
          <p:cNvSpPr/>
          <p:nvPr/>
        </p:nvSpPr>
        <p:spPr>
          <a:xfrm>
            <a:off x="590400" y="590400"/>
            <a:ext cx="115606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📦 </a:t>
            </a: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Variáveis: As Cápsulas de Carga da Millennium Falcon</a:t>
            </a:r>
            <a:endParaRPr b="0" lang="pt-BR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105;p14"/>
          <p:cNvSpPr/>
          <p:nvPr/>
        </p:nvSpPr>
        <p:spPr>
          <a:xfrm>
            <a:off x="590400" y="1628640"/>
            <a:ext cx="11010240" cy="1836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10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69" name="Google Shape;111;p15" descr="image.png"/>
          <p:cNvPicPr/>
          <p:nvPr/>
        </p:nvPicPr>
        <p:blipFill>
          <a:blip r:embed="rId2"/>
          <a:stretch/>
        </p:blipFill>
        <p:spPr>
          <a:xfrm>
            <a:off x="590400" y="2090880"/>
            <a:ext cx="5266440" cy="3618720"/>
          </a:xfrm>
          <a:prstGeom prst="rect">
            <a:avLst/>
          </a:prstGeom>
          <a:ln w="0">
            <a:noFill/>
          </a:ln>
        </p:spPr>
      </p:pic>
      <p:pic>
        <p:nvPicPr>
          <p:cNvPr id="70" name="Google Shape;112;p15" descr=""/>
          <p:cNvPicPr/>
          <p:nvPr/>
        </p:nvPicPr>
        <p:blipFill>
          <a:blip r:embed="rId3"/>
          <a:srcRect l="0" t="15757" r="0" b="15746"/>
          <a:stretch/>
        </p:blipFill>
        <p:spPr>
          <a:xfrm>
            <a:off x="609480" y="2109960"/>
            <a:ext cx="5228640" cy="35805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13;p15"/>
          <p:cNvSpPr/>
          <p:nvPr/>
        </p:nvSpPr>
        <p:spPr>
          <a:xfrm>
            <a:off x="6667560" y="288144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O que é: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Forçar um dado a mudar de tipo usando as funções do Python.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114;p15"/>
          <p:cNvSpPr/>
          <p:nvPr/>
        </p:nvSpPr>
        <p:spPr>
          <a:xfrm>
            <a:off x="6667560" y="3662280"/>
            <a:ext cx="493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Para que serve: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Evitar erros graves no código.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115;p15"/>
          <p:cNvSpPr/>
          <p:nvPr/>
        </p:nvSpPr>
        <p:spPr>
          <a:xfrm>
            <a:off x="6667560" y="413856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O Python não soma texto com número: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A operação "150000" + 5 quebra o sistema!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Google Shape;116;p15" descr="image.png"/>
          <p:cNvPicPr/>
          <p:nvPr/>
        </p:nvPicPr>
        <p:blipFill>
          <a:blip r:embed="rId4"/>
          <a:stretch/>
        </p:blipFill>
        <p:spPr>
          <a:xfrm>
            <a:off x="6334200" y="2914560"/>
            <a:ext cx="218520" cy="199440"/>
          </a:xfrm>
          <a:prstGeom prst="rect">
            <a:avLst/>
          </a:prstGeom>
          <a:ln w="0">
            <a:noFill/>
          </a:ln>
        </p:spPr>
      </p:pic>
      <p:pic>
        <p:nvPicPr>
          <p:cNvPr id="75" name="Google Shape;117;p15" descr="image.png"/>
          <p:cNvPicPr/>
          <p:nvPr/>
        </p:nvPicPr>
        <p:blipFill>
          <a:blip r:embed="rId5"/>
          <a:stretch/>
        </p:blipFill>
        <p:spPr>
          <a:xfrm>
            <a:off x="6334200" y="3695760"/>
            <a:ext cx="189720" cy="199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18;p15" descr="image.png"/>
          <p:cNvPicPr/>
          <p:nvPr/>
        </p:nvPicPr>
        <p:blipFill>
          <a:blip r:embed="rId6"/>
          <a:stretch/>
        </p:blipFill>
        <p:spPr>
          <a:xfrm>
            <a:off x="6334200" y="4172040"/>
            <a:ext cx="189720" cy="19944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19;p15"/>
          <p:cNvSpPr/>
          <p:nvPr/>
        </p:nvSpPr>
        <p:spPr>
          <a:xfrm>
            <a:off x="590400" y="590400"/>
            <a:ext cx="115606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⚡ </a:t>
            </a: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Casting: Usando a Força para Converter Dados</a:t>
            </a:r>
            <a:endParaRPr b="0" lang="pt-BR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120;p15"/>
          <p:cNvSpPr/>
          <p:nvPr/>
        </p:nvSpPr>
        <p:spPr>
          <a:xfrm>
            <a:off x="590400" y="1181160"/>
            <a:ext cx="11010240" cy="1836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25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80" name="Google Shape;126;p16" descr="image.png"/>
          <p:cNvPicPr/>
          <p:nvPr/>
        </p:nvPicPr>
        <p:blipFill>
          <a:blip r:embed="rId2"/>
          <a:stretch/>
        </p:blipFill>
        <p:spPr>
          <a:xfrm>
            <a:off x="6334200" y="2090880"/>
            <a:ext cx="5266440" cy="361872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127;p16"/>
          <p:cNvSpPr/>
          <p:nvPr/>
        </p:nvSpPr>
        <p:spPr>
          <a:xfrm>
            <a:off x="923760" y="27288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int()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➡️ Vira número inteiro (corta tudo o que vem depois do ponto).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28;p16"/>
          <p:cNvSpPr/>
          <p:nvPr/>
        </p:nvSpPr>
        <p:spPr>
          <a:xfrm>
            <a:off x="923760" y="35100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float()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➡️ Vira número quebrado (o número ganha um ".0" no final).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129;p16"/>
          <p:cNvSpPr/>
          <p:nvPr/>
        </p:nvSpPr>
        <p:spPr>
          <a:xfrm>
            <a:off x="923760" y="429084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str()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➡️ Vira texto comum (o dado ganha "aspas" em volta dele).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Google Shape;130;p16" descr="image.png"/>
          <p:cNvPicPr/>
          <p:nvPr/>
        </p:nvPicPr>
        <p:blipFill>
          <a:blip r:embed="rId3"/>
          <a:stretch/>
        </p:blipFill>
        <p:spPr>
          <a:xfrm>
            <a:off x="6353280" y="2109960"/>
            <a:ext cx="5228640" cy="358056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31;p16" descr="image.png"/>
          <p:cNvPicPr/>
          <p:nvPr/>
        </p:nvPicPr>
        <p:blipFill>
          <a:blip r:embed="rId4"/>
          <a:stretch/>
        </p:blipFill>
        <p:spPr>
          <a:xfrm>
            <a:off x="590400" y="2762280"/>
            <a:ext cx="237240" cy="19944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32;p16" descr="image.png"/>
          <p:cNvPicPr/>
          <p:nvPr/>
        </p:nvPicPr>
        <p:blipFill>
          <a:blip r:embed="rId5"/>
          <a:stretch/>
        </p:blipFill>
        <p:spPr>
          <a:xfrm>
            <a:off x="590400" y="3543480"/>
            <a:ext cx="237240" cy="19944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33;p16" descr="image.png"/>
          <p:cNvPicPr/>
          <p:nvPr/>
        </p:nvPicPr>
        <p:blipFill>
          <a:blip r:embed="rId6"/>
          <a:stretch/>
        </p:blipFill>
        <p:spPr>
          <a:xfrm>
            <a:off x="590400" y="4324320"/>
            <a:ext cx="237240" cy="19944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134;p16"/>
          <p:cNvSpPr/>
          <p:nvPr/>
        </p:nvSpPr>
        <p:spPr>
          <a:xfrm>
            <a:off x="590400" y="590400"/>
            <a:ext cx="115606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🧭 </a:t>
            </a: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As Ferramentas de Conversão</a:t>
            </a:r>
            <a:endParaRPr b="0" lang="pt-BR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35;p16"/>
          <p:cNvSpPr/>
          <p:nvPr/>
        </p:nvSpPr>
        <p:spPr>
          <a:xfrm>
            <a:off x="590400" y="1181160"/>
            <a:ext cx="11010240" cy="1836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Google Shape;136;p16" descr=""/>
          <p:cNvPicPr/>
          <p:nvPr/>
        </p:nvPicPr>
        <p:blipFill>
          <a:blip r:embed="rId7"/>
          <a:stretch/>
        </p:blipFill>
        <p:spPr>
          <a:xfrm>
            <a:off x="6353280" y="2109600"/>
            <a:ext cx="5228640" cy="358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41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142;p17" descr="image.png"/>
          <p:cNvPicPr/>
          <p:nvPr/>
        </p:nvPicPr>
        <p:blipFill>
          <a:blip r:embed="rId2"/>
          <a:stretch/>
        </p:blipFill>
        <p:spPr>
          <a:xfrm>
            <a:off x="590400" y="2090880"/>
            <a:ext cx="5266440" cy="361872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43;p17" descr="image.png"/>
          <p:cNvPicPr/>
          <p:nvPr/>
        </p:nvPicPr>
        <p:blipFill>
          <a:blip r:embed="rId3"/>
          <a:stretch/>
        </p:blipFill>
        <p:spPr>
          <a:xfrm>
            <a:off x="609480" y="2109960"/>
            <a:ext cx="5228640" cy="358056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144;p17"/>
          <p:cNvSpPr/>
          <p:nvPr/>
        </p:nvSpPr>
        <p:spPr>
          <a:xfrm>
            <a:off x="6667560" y="27288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ValueError: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Acontece se você tentar converter texto com letras em número.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45;p17"/>
          <p:cNvSpPr/>
          <p:nvPr/>
        </p:nvSpPr>
        <p:spPr>
          <a:xfrm>
            <a:off x="6667560" y="35100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int("150000")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✅ Funciona perfeitamente (só tem números dentro).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46;p17"/>
          <p:cNvSpPr/>
          <p:nvPr/>
        </p:nvSpPr>
        <p:spPr>
          <a:xfrm>
            <a:off x="6667560" y="429084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int("X-Wing")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❌ Dá erro grave! Letras não viram números.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" name="Google Shape;147;p17" descr="image.png"/>
          <p:cNvPicPr/>
          <p:nvPr/>
        </p:nvPicPr>
        <p:blipFill>
          <a:blip r:embed="rId4"/>
          <a:stretch/>
        </p:blipFill>
        <p:spPr>
          <a:xfrm>
            <a:off x="6334200" y="2762280"/>
            <a:ext cx="189720" cy="19944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148;p17" descr="image.png"/>
          <p:cNvPicPr/>
          <p:nvPr/>
        </p:nvPicPr>
        <p:blipFill>
          <a:blip r:embed="rId5"/>
          <a:stretch/>
        </p:blipFill>
        <p:spPr>
          <a:xfrm>
            <a:off x="6334200" y="3543480"/>
            <a:ext cx="189720" cy="19944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149;p17" descr="image.png"/>
          <p:cNvPicPr/>
          <p:nvPr/>
        </p:nvPicPr>
        <p:blipFill>
          <a:blip r:embed="rId6"/>
          <a:stretch/>
        </p:blipFill>
        <p:spPr>
          <a:xfrm>
            <a:off x="6334200" y="4324320"/>
            <a:ext cx="189720" cy="19944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150;p17"/>
          <p:cNvSpPr/>
          <p:nvPr/>
        </p:nvSpPr>
        <p:spPr>
          <a:xfrm>
            <a:off x="590400" y="590400"/>
            <a:ext cx="115606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🚨 </a:t>
            </a: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Alerta de Erro: Cuidado com o Lado Sombrio!</a:t>
            </a:r>
            <a:endParaRPr b="0" lang="pt-BR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51;p17"/>
          <p:cNvSpPr/>
          <p:nvPr/>
        </p:nvSpPr>
        <p:spPr>
          <a:xfrm>
            <a:off x="590400" y="1181160"/>
            <a:ext cx="11010240" cy="1836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Google Shape;152;p17" descr=""/>
          <p:cNvPicPr/>
          <p:nvPr/>
        </p:nvPicPr>
        <p:blipFill>
          <a:blip r:embed="rId7"/>
          <a:stretch/>
        </p:blipFill>
        <p:spPr>
          <a:xfrm>
            <a:off x="590400" y="2109600"/>
            <a:ext cx="5266440" cy="358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57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104" name="Google Shape;158;p18" descr="image.png"/>
          <p:cNvPicPr/>
          <p:nvPr/>
        </p:nvPicPr>
        <p:blipFill>
          <a:blip r:embed="rId2"/>
          <a:stretch/>
        </p:blipFill>
        <p:spPr>
          <a:xfrm>
            <a:off x="6372360" y="2090880"/>
            <a:ext cx="5209560" cy="361872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59;p18"/>
          <p:cNvSpPr/>
          <p:nvPr/>
        </p:nvSpPr>
        <p:spPr>
          <a:xfrm>
            <a:off x="923760" y="31194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Resumo: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Guarde dados nas caixas (variáveis) e use o Casting para calcular com segurança.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60;p18"/>
          <p:cNvSpPr/>
          <p:nvPr/>
        </p:nvSpPr>
        <p:spPr>
          <a:xfrm>
            <a:off x="923760" y="3900600"/>
            <a:ext cx="493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Prática:</a:t>
            </a:r>
            <a:r>
              <a:rPr b="0" lang="en-US" sz="1500" spc="-1" strike="noStrike">
                <a:solidFill>
                  <a:srgbClr val="d1d5db"/>
                </a:solidFill>
                <a:latin typeface="Roboto"/>
                <a:ea typeface="Roboto"/>
              </a:rPr>
              <a:t> Código rodando no Google Colab e documentação salva no GitHub (Pasta Aula 09).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Google Shape;161;p18" descr="image.png"/>
          <p:cNvPicPr/>
          <p:nvPr/>
        </p:nvPicPr>
        <p:blipFill>
          <a:blip r:embed="rId3"/>
          <a:stretch/>
        </p:blipFill>
        <p:spPr>
          <a:xfrm>
            <a:off x="6353280" y="2109960"/>
            <a:ext cx="5228640" cy="358056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62;p18" descr="image.png"/>
          <p:cNvPicPr/>
          <p:nvPr/>
        </p:nvPicPr>
        <p:blipFill>
          <a:blip r:embed="rId4"/>
          <a:stretch/>
        </p:blipFill>
        <p:spPr>
          <a:xfrm>
            <a:off x="590400" y="3152880"/>
            <a:ext cx="218520" cy="19944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63;p18" descr="image.png"/>
          <p:cNvPicPr/>
          <p:nvPr/>
        </p:nvPicPr>
        <p:blipFill>
          <a:blip r:embed="rId5"/>
          <a:stretch/>
        </p:blipFill>
        <p:spPr>
          <a:xfrm>
            <a:off x="590400" y="3933720"/>
            <a:ext cx="237240" cy="19944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64;p18"/>
          <p:cNvSpPr/>
          <p:nvPr/>
        </p:nvSpPr>
        <p:spPr>
          <a:xfrm>
            <a:off x="590400" y="590400"/>
            <a:ext cx="115606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acc15"/>
                </a:solidFill>
                <a:latin typeface="Orbitron"/>
                <a:ea typeface="Orbitron"/>
              </a:rPr>
              <a:t>Que a Força do Código esteja com você!</a:t>
            </a:r>
            <a:endParaRPr b="0" lang="pt-BR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65;p18"/>
          <p:cNvSpPr/>
          <p:nvPr/>
        </p:nvSpPr>
        <p:spPr>
          <a:xfrm>
            <a:off x="590400" y="1181160"/>
            <a:ext cx="11010240" cy="1836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Google Shape;166;p18" descr=""/>
          <p:cNvPicPr/>
          <p:nvPr/>
        </p:nvPicPr>
        <p:blipFill>
          <a:blip r:embed="rId6"/>
          <a:stretch/>
        </p:blipFill>
        <p:spPr>
          <a:xfrm>
            <a:off x="6353280" y="2109600"/>
            <a:ext cx="5228640" cy="358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2026-09-15T22:02:38Z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